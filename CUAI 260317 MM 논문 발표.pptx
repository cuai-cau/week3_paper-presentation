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8"/>
    <p:restoredTop sz="86408"/>
  </p:normalViewPr>
  <p:slideViewPr>
    <p:cSldViewPr snapToGrid="0">
      <p:cViewPr>
        <p:scale>
          <a:sx n="119" d="100"/>
          <a:sy n="119" d="100"/>
        </p:scale>
        <p:origin x="584" y="5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B03B30C-BF62-F8FD-5FAC-AA8D614F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050C0BA-08E5-8C0D-C62A-A9E8C8372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FA67E90-C353-3ADE-1A1B-79CD7D7DD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6907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D314B5A-1F49-C2A5-E5E5-C7641D59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1B92737-8504-7A8A-2C27-EAD1E68A2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A721549-2C4A-891F-7EFD-181D3A458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" altLang="ko-KR" dirty="0"/>
              <a:t>“Zero-shot HOI</a:t>
            </a:r>
            <a:r>
              <a:rPr lang="ko-KR" altLang="en-US" dirty="0"/>
              <a:t>는 기존에 학습된 </a:t>
            </a:r>
            <a:r>
              <a:rPr lang="en" altLang="ko-KR" dirty="0"/>
              <a:t>verb</a:t>
            </a:r>
            <a:r>
              <a:rPr lang="ko-KR" altLang="en-US" dirty="0"/>
              <a:t>와 </a:t>
            </a:r>
            <a:r>
              <a:rPr lang="en" altLang="ko-KR" dirty="0"/>
              <a:t>object</a:t>
            </a:r>
            <a:r>
              <a:rPr lang="ko-KR" altLang="en-US" dirty="0"/>
              <a:t>의 새로운 조합을 맞추는 문제이고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" altLang="ko-KR" dirty="0"/>
              <a:t>Open-vocabulary HOI</a:t>
            </a:r>
            <a:r>
              <a:rPr lang="ko-KR" altLang="en-US" dirty="0"/>
              <a:t>는 학습되지 않은 새로운 </a:t>
            </a:r>
            <a:r>
              <a:rPr lang="en" altLang="ko-KR" dirty="0"/>
              <a:t>verb</a:t>
            </a:r>
            <a:r>
              <a:rPr lang="ko-KR" altLang="en-US" dirty="0"/>
              <a:t>나 </a:t>
            </a:r>
            <a:r>
              <a:rPr lang="en" altLang="ko-KR" dirty="0"/>
              <a:t>object</a:t>
            </a:r>
            <a:r>
              <a:rPr lang="ko-KR" altLang="en-US" dirty="0"/>
              <a:t>까지 포함하여 </a:t>
            </a:r>
            <a:r>
              <a:rPr lang="en" altLang="ko-KR" dirty="0"/>
              <a:t>generalize</a:t>
            </a:r>
            <a:r>
              <a:rPr lang="ko-KR" altLang="en-US" dirty="0"/>
              <a:t>해야 하는 더 어려운 문제입니다</a:t>
            </a:r>
            <a:r>
              <a:rPr lang="en-US" altLang="ko-KR" dirty="0"/>
              <a:t>.”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3003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1C4FA42-4AB9-8BA6-2CFF-F0692470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8D56F05-FA9A-2466-0AFB-AF77D1EEF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48AE02D-7ED7-1855-9708-B6B514E74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8316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4C65A91-C160-22A6-07C1-386A29CB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C2C1165-3B4A-66E7-4DF7-208EB82F8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99AE083-7227-4CFB-DBFD-CCF25FCC4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6378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CA76A83-AC28-B862-1DA9-DA02EB55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E48AD76-8FEC-B97C-6771-B3F920723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861D654-0359-69D6-2AB9-067E1499C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5339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2EA6C38-6427-E9C6-FD96-812A3842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81894A3-85A5-9946-A10D-235426EDD7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E7A094D-6063-C624-46C6-CF3DEA99D6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6126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BD3F770-88FD-C327-A945-6618DD5A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2C271DF-F861-E88B-E117-BA2C09A450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05A9D0F-89AA-966B-2379-4BDF98C22C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9243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880E7D3-4B9E-4E33-C13E-B1D102C6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CAD667AB-0B5E-5646-ECF6-FF5C89668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E5EFBA5-3319-8C55-A096-5E26547FD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2958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5C36DB7-C82F-6590-EC72-48281DC9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2CD5346-CE68-79E2-A290-8E2653C00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EE67935-9EF9-1818-7CEE-570FBFB34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2340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2B8E3A7-0299-3DDD-6C5B-B4572141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B7BF151-B3D2-C8B3-7C44-67D23E816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EC57858-FE2C-7C17-FA0C-F0A63A557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690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68D2E3F-85A3-4F15-DAD3-11298EDA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159BA67-96D6-5234-C6E2-8586C30A3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0B856D7-8C54-0353-3325-58D3B9D19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3140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64243" y="2416136"/>
            <a:ext cx="7289900" cy="244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논문리뷰</a:t>
            </a:r>
            <a:r>
              <a:rPr lang="en-US" altLang="ko-KR" sz="2500" b="1" dirty="0">
                <a:solidFill>
                  <a:srgbClr val="19264B"/>
                </a:solidFill>
              </a:rPr>
              <a:t>:</a:t>
            </a:r>
            <a:r>
              <a:rPr lang="ko-KR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-KR" sz="2500" b="1" dirty="0">
                <a:solidFill>
                  <a:srgbClr val="19264B"/>
                </a:solidFill>
              </a:rPr>
              <a:t>Open-Vocabulary HOI Detection with Interaction-aware Prompt and Concept Calibration(ICCV 2025)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-KR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0</a:t>
            </a:r>
            <a:r>
              <a:rPr lang="en-US" altLang="ko-KR" dirty="0">
                <a:solidFill>
                  <a:srgbClr val="19264B"/>
                </a:solidFill>
              </a:rPr>
              <a:t>3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17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" altLang="en-US" sz="1100" dirty="0">
                <a:solidFill>
                  <a:srgbClr val="19264B"/>
                </a:solidFill>
              </a:rPr>
              <a:t>신승현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DEE3A67-8A57-EF5A-25DF-587CE651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2EA58BC0-C536-9A3A-0C78-84D9AA1E974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54177851-305B-BE3A-DAF8-A22A8F423C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B8F782-8CAE-B789-6418-02A9A5C3A021}"/>
              </a:ext>
            </a:extLst>
          </p:cNvPr>
          <p:cNvSpPr txBox="1"/>
          <p:nvPr/>
        </p:nvSpPr>
        <p:spPr>
          <a:xfrm>
            <a:off x="1645999" y="450430"/>
            <a:ext cx="558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Open Vocabulary Human-Object Interaction(HOI)</a:t>
            </a:r>
            <a:r>
              <a:rPr kumimoji="1" lang="ko-KR" altLang="en-US" sz="1800" dirty="0"/>
              <a:t>란</a:t>
            </a:r>
            <a:r>
              <a:rPr kumimoji="1" lang="en-US" altLang="ko-KR" sz="1800" dirty="0"/>
              <a:t>?</a:t>
            </a:r>
            <a:endParaRPr kumimoji="1" lang="ko-KR" altLang="en-US" sz="1800" dirty="0"/>
          </a:p>
        </p:txBody>
      </p:sp>
      <p:pic>
        <p:nvPicPr>
          <p:cNvPr id="13" name="그림 12" descr="구름, 하늘, 의류, 사람이(가) 표시된 사진&#10;&#10;자동 생성된 설명">
            <a:extLst>
              <a:ext uri="{FF2B5EF4-FFF2-40B4-BE49-F238E27FC236}">
                <a16:creationId xmlns:a16="http://schemas.microsoft.com/office/drawing/2014/main" id="{EB71DB34-1401-B6B7-A7EC-EFB3FF510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638" y="1281662"/>
            <a:ext cx="4737100" cy="3289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06F24A-B5D0-B0F8-B7C0-A568C991BD93}"/>
              </a:ext>
            </a:extLst>
          </p:cNvPr>
          <p:cNvSpPr txBox="1"/>
          <p:nvPr/>
        </p:nvSpPr>
        <p:spPr>
          <a:xfrm>
            <a:off x="6600631" y="2012467"/>
            <a:ext cx="23615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Human Object Interaction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이미지에서 인간과</a:t>
            </a:r>
            <a:endParaRPr kumimoji="1" lang="en-US" altLang="ko-KR" dirty="0"/>
          </a:p>
          <a:p>
            <a:r>
              <a:rPr kumimoji="1" lang="ko-KR" altLang="en-US" dirty="0"/>
              <a:t>사물의 </a:t>
            </a:r>
            <a:r>
              <a:rPr kumimoji="1" lang="en-US" altLang="ko-KR" dirty="0"/>
              <a:t>BBOX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예측하고</a:t>
            </a:r>
            <a:endParaRPr kumimoji="1" lang="en-US" altLang="ko-KR" dirty="0"/>
          </a:p>
          <a:p>
            <a:r>
              <a:rPr kumimoji="1" lang="ko-KR" altLang="en-US" dirty="0"/>
              <a:t>그 사이의 상호작용에 </a:t>
            </a:r>
            <a:endParaRPr kumimoji="1" lang="en-US" altLang="ko-KR" dirty="0"/>
          </a:p>
          <a:p>
            <a:r>
              <a:rPr kumimoji="1" lang="ko-KR" altLang="en-US" dirty="0"/>
              <a:t>해당하는 </a:t>
            </a:r>
            <a:r>
              <a:rPr kumimoji="1" lang="en-US" altLang="ko-KR" dirty="0"/>
              <a:t>HOI class</a:t>
            </a:r>
          </a:p>
          <a:p>
            <a:r>
              <a:rPr kumimoji="1" lang="en-US" altLang="ko-KR" dirty="0"/>
              <a:t>(</a:t>
            </a:r>
            <a:r>
              <a:rPr kumimoji="1" lang="en-US" altLang="ko-KR" dirty="0" err="1"/>
              <a:t>verb+object</a:t>
            </a:r>
            <a:r>
              <a:rPr kumimoji="1" lang="en-US" altLang="ko-KR" dirty="0"/>
              <a:t> </a:t>
            </a:r>
            <a:r>
              <a:rPr kumimoji="1" lang="ko-KR" altLang="en-US" dirty="0"/>
              <a:t>조합</a:t>
            </a:r>
            <a:r>
              <a:rPr kumimoji="1" lang="en-US" altLang="ko-KR" dirty="0"/>
              <a:t>)</a:t>
            </a:r>
            <a:r>
              <a:rPr kumimoji="1" lang="ko-KR" altLang="en-US" dirty="0"/>
              <a:t>을</a:t>
            </a:r>
            <a:endParaRPr kumimoji="1" lang="en-US" altLang="ko-KR" dirty="0"/>
          </a:p>
          <a:p>
            <a:r>
              <a:rPr kumimoji="1" lang="ko-KR" altLang="en-US" dirty="0"/>
              <a:t>예측하는 </a:t>
            </a:r>
            <a:r>
              <a:rPr kumimoji="1" lang="en-US" altLang="ko-KR" dirty="0"/>
              <a:t>Task</a:t>
            </a:r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9747B1E-D30B-3B30-BCF8-5277ECE0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0540F98-594F-9CA7-16BA-0530E0FF90CA}"/>
              </a:ext>
            </a:extLst>
          </p:cNvPr>
          <p:cNvSpPr/>
          <p:nvPr/>
        </p:nvSpPr>
        <p:spPr>
          <a:xfrm>
            <a:off x="5522181" y="3265259"/>
            <a:ext cx="2455492" cy="1436914"/>
          </a:xfrm>
          <a:prstGeom prst="round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82F4287-19B1-494E-5E3E-2B04D3340AB7}"/>
              </a:ext>
            </a:extLst>
          </p:cNvPr>
          <p:cNvSpPr/>
          <p:nvPr/>
        </p:nvSpPr>
        <p:spPr>
          <a:xfrm>
            <a:off x="1645999" y="1268508"/>
            <a:ext cx="6923314" cy="1744825"/>
          </a:xfrm>
          <a:prstGeom prst="roundRect">
            <a:avLst/>
          </a:prstGeom>
          <a:solidFill>
            <a:srgbClr val="1926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B988E870-24B0-7C2D-2335-B55FE39F5E0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638DD486-089D-487A-EA32-D5978CA942B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49135D99-5533-9A81-82B1-C87390F37B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A9D1F6-B34B-DD3A-5577-C780218E74DD}"/>
              </a:ext>
            </a:extLst>
          </p:cNvPr>
          <p:cNvSpPr txBox="1"/>
          <p:nvPr/>
        </p:nvSpPr>
        <p:spPr>
          <a:xfrm>
            <a:off x="1645999" y="450430"/>
            <a:ext cx="558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Open Vocabulary Human-Object Interaction(HOI)</a:t>
            </a:r>
            <a:r>
              <a:rPr kumimoji="1" lang="ko-KR" altLang="en-US" sz="1800" dirty="0"/>
              <a:t>란</a:t>
            </a:r>
            <a:r>
              <a:rPr kumimoji="1" lang="en-US" altLang="ko-KR" sz="1800" dirty="0"/>
              <a:t>?</a:t>
            </a:r>
            <a:endParaRPr kumimoji="1" lang="ko-KR" alt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A9551-7E22-67F5-7689-C4F094E9F761}"/>
              </a:ext>
            </a:extLst>
          </p:cNvPr>
          <p:cNvSpPr txBox="1"/>
          <p:nvPr/>
        </p:nvSpPr>
        <p:spPr>
          <a:xfrm>
            <a:off x="2023035" y="1712173"/>
            <a:ext cx="61414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dirty="0">
                <a:solidFill>
                  <a:schemeClr val="bg1"/>
                </a:solidFill>
              </a:rPr>
              <a:t>Zero-shot HOI</a:t>
            </a:r>
            <a:r>
              <a:rPr lang="ko-KR" altLang="en-US" dirty="0">
                <a:solidFill>
                  <a:schemeClr val="bg1"/>
                </a:solidFill>
              </a:rPr>
              <a:t>는 기존에 학습된 </a:t>
            </a:r>
            <a:r>
              <a:rPr lang="en" altLang="ko-KR" dirty="0">
                <a:solidFill>
                  <a:schemeClr val="bg1"/>
                </a:solidFill>
              </a:rPr>
              <a:t>verb</a:t>
            </a:r>
            <a:r>
              <a:rPr lang="ko-KR" altLang="en-US" dirty="0">
                <a:solidFill>
                  <a:schemeClr val="bg1"/>
                </a:solidFill>
              </a:rPr>
              <a:t>와 </a:t>
            </a:r>
            <a:r>
              <a:rPr lang="en" altLang="ko-KR" dirty="0">
                <a:solidFill>
                  <a:schemeClr val="bg1"/>
                </a:solidFill>
              </a:rPr>
              <a:t>object</a:t>
            </a:r>
            <a:r>
              <a:rPr lang="ko-KR" altLang="en-US" dirty="0">
                <a:solidFill>
                  <a:schemeClr val="bg1"/>
                </a:solidFill>
              </a:rPr>
              <a:t>의 새로운 조합을 맞추는 문제</a:t>
            </a:r>
            <a:endParaRPr lang="en-US" altLang="ko-KR" dirty="0">
              <a:solidFill>
                <a:schemeClr val="bg1"/>
              </a:solidFill>
            </a:endParaRPr>
          </a:p>
          <a:p>
            <a:br>
              <a:rPr lang="en-US" altLang="ko-KR" dirty="0">
                <a:solidFill>
                  <a:schemeClr val="bg1"/>
                </a:solidFill>
              </a:rPr>
            </a:br>
            <a:r>
              <a:rPr lang="en" altLang="ko-KR" dirty="0">
                <a:solidFill>
                  <a:schemeClr val="bg1"/>
                </a:solidFill>
              </a:rPr>
              <a:t>Open-vocabulary HOI</a:t>
            </a:r>
            <a:r>
              <a:rPr lang="ko-KR" altLang="en-US" dirty="0">
                <a:solidFill>
                  <a:schemeClr val="bg1"/>
                </a:solidFill>
              </a:rPr>
              <a:t>는 학습되지 않은 새로운 </a:t>
            </a:r>
            <a:r>
              <a:rPr lang="en" altLang="ko-KR" dirty="0">
                <a:solidFill>
                  <a:schemeClr val="bg1"/>
                </a:solidFill>
              </a:rPr>
              <a:t>verb</a:t>
            </a:r>
            <a:r>
              <a:rPr lang="ko-KR" altLang="en-US" dirty="0">
                <a:solidFill>
                  <a:schemeClr val="bg1"/>
                </a:solidFill>
              </a:rPr>
              <a:t>나 </a:t>
            </a:r>
            <a:r>
              <a:rPr lang="en" altLang="ko-KR" dirty="0">
                <a:solidFill>
                  <a:schemeClr val="bg1"/>
                </a:solidFill>
              </a:rPr>
              <a:t>object</a:t>
            </a:r>
            <a:r>
              <a:rPr lang="ko-KR" altLang="en-US" dirty="0">
                <a:solidFill>
                  <a:schemeClr val="bg1"/>
                </a:solidFill>
              </a:rPr>
              <a:t>까지 포함하여 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" altLang="ko-KR" dirty="0">
                <a:solidFill>
                  <a:schemeClr val="bg1"/>
                </a:solidFill>
              </a:rPr>
              <a:t>generalize</a:t>
            </a:r>
            <a:r>
              <a:rPr lang="ko-KR" altLang="en-US" dirty="0">
                <a:solidFill>
                  <a:schemeClr val="bg1"/>
                </a:solidFill>
              </a:rPr>
              <a:t>해야 하는 문제</a:t>
            </a:r>
            <a:endParaRPr kumimoji="1"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7213C-75B7-45BB-D11A-F0C6FE8E4B86}"/>
              </a:ext>
            </a:extLst>
          </p:cNvPr>
          <p:cNvSpPr txBox="1"/>
          <p:nvPr/>
        </p:nvSpPr>
        <p:spPr>
          <a:xfrm>
            <a:off x="2682180" y="3471455"/>
            <a:ext cx="17556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Train Set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Verb: {pet, ride}</a:t>
            </a:r>
          </a:p>
          <a:p>
            <a:r>
              <a:rPr kumimoji="1" lang="en-US" altLang="ko-KR" dirty="0"/>
              <a:t>Object: {horse, cat} 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C4621-33BD-F911-0231-84E8457FA4A8}"/>
              </a:ext>
            </a:extLst>
          </p:cNvPr>
          <p:cNvSpPr txBox="1"/>
          <p:nvPr/>
        </p:nvSpPr>
        <p:spPr>
          <a:xfrm>
            <a:off x="5801267" y="3458330"/>
            <a:ext cx="20249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Test Set(Unseen)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Verb: {feed, hug, ride}</a:t>
            </a:r>
          </a:p>
          <a:p>
            <a:r>
              <a:rPr kumimoji="1" lang="en-US" altLang="ko-KR" dirty="0"/>
              <a:t>Object: {dog, kid, bike} </a:t>
            </a:r>
            <a:endParaRPr kumimoji="1" lang="ko-KR" altLang="en-US" dirty="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BBF795D-486A-9D32-2090-4B56DBEEF904}"/>
              </a:ext>
            </a:extLst>
          </p:cNvPr>
          <p:cNvSpPr/>
          <p:nvPr/>
        </p:nvSpPr>
        <p:spPr>
          <a:xfrm>
            <a:off x="2472612" y="3265259"/>
            <a:ext cx="2164702" cy="1436914"/>
          </a:xfrm>
          <a:prstGeom prst="round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위쪽 화살표[U] 10">
            <a:extLst>
              <a:ext uri="{FF2B5EF4-FFF2-40B4-BE49-F238E27FC236}">
                <a16:creationId xmlns:a16="http://schemas.microsoft.com/office/drawing/2014/main" id="{EA07D037-A667-B6C9-264C-0193CFFAE832}"/>
              </a:ext>
            </a:extLst>
          </p:cNvPr>
          <p:cNvSpPr/>
          <p:nvPr/>
        </p:nvSpPr>
        <p:spPr>
          <a:xfrm rot="5400000">
            <a:off x="4984223" y="3679745"/>
            <a:ext cx="246865" cy="607942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558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B4CF22B-8459-6167-007E-AC1207B2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AB2B4D6-0200-A69E-5E84-1E4446E5734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E7A1ABD7-E7E8-9FF7-5149-EAE16E28731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D4D9D305-3178-B37B-28D3-6D47432708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632298-77E0-5011-BDBE-C37DC7964914}"/>
              </a:ext>
            </a:extLst>
          </p:cNvPr>
          <p:cNvSpPr txBox="1"/>
          <p:nvPr/>
        </p:nvSpPr>
        <p:spPr>
          <a:xfrm>
            <a:off x="1645999" y="450430"/>
            <a:ext cx="621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Open Vocabulary Human-Object Interaction(HOI)</a:t>
            </a:r>
            <a:r>
              <a:rPr kumimoji="1" lang="ko-KR" altLang="en-US" sz="1800" dirty="0"/>
              <a:t>의 어려움</a:t>
            </a:r>
            <a:endParaRPr kumimoji="1" lang="en-US" altLang="ko-KR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98A5A-205F-D60C-3C14-0FF6BDF45FDE}"/>
              </a:ext>
            </a:extLst>
          </p:cNvPr>
          <p:cNvSpPr txBox="1"/>
          <p:nvPr/>
        </p:nvSpPr>
        <p:spPr>
          <a:xfrm>
            <a:off x="1778584" y="1425724"/>
            <a:ext cx="6859570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b="1" dirty="0"/>
              <a:t>Verb X Object </a:t>
            </a:r>
            <a:r>
              <a:rPr kumimoji="1" lang="ko-KR" altLang="en-US" b="1" dirty="0"/>
              <a:t>간 조합이 너무 많음</a:t>
            </a:r>
            <a:br>
              <a:rPr kumimoji="1" lang="en-US" altLang="ko-KR" dirty="0"/>
            </a:br>
            <a:r>
              <a:rPr kumimoji="1" lang="ko-KR" altLang="en-US" dirty="0"/>
              <a:t>논문에서 다루는 데이터셋 중 </a:t>
            </a:r>
            <a:r>
              <a:rPr kumimoji="1" lang="en-US" altLang="ko-KR" dirty="0"/>
              <a:t>HICO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600</a:t>
            </a:r>
            <a:r>
              <a:rPr kumimoji="1" lang="ko-KR" altLang="en-US" dirty="0"/>
              <a:t>개 조합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br>
              <a:rPr kumimoji="1" lang="en-US" altLang="ko-KR" dirty="0"/>
            </a:br>
            <a:r>
              <a:rPr kumimoji="1" lang="en-US" altLang="ko-KR" dirty="0"/>
              <a:t>SWIG-HOI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16000</a:t>
            </a:r>
            <a:r>
              <a:rPr kumimoji="1" lang="ko-KR" altLang="en-US" dirty="0"/>
              <a:t>여개의 조합을 다룸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b="1" dirty="0"/>
              <a:t>Training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set</a:t>
            </a:r>
            <a:r>
              <a:rPr kumimoji="1" lang="ko-KR" altLang="en-US" b="1" dirty="0" err="1"/>
              <a:t>에</a:t>
            </a:r>
            <a:r>
              <a:rPr kumimoji="1" lang="ko-KR" altLang="en-US" b="1" dirty="0"/>
              <a:t> 없던 </a:t>
            </a:r>
            <a:r>
              <a:rPr kumimoji="1" lang="en-US" altLang="ko-KR" b="1" dirty="0"/>
              <a:t>class</a:t>
            </a:r>
            <a:r>
              <a:rPr kumimoji="1" lang="ko-KR" altLang="en-US" b="1" dirty="0" err="1"/>
              <a:t>를</a:t>
            </a:r>
            <a:r>
              <a:rPr kumimoji="1" lang="ko-KR" altLang="en-US" b="1" dirty="0"/>
              <a:t> </a:t>
            </a:r>
            <a:r>
              <a:rPr kumimoji="1" lang="ko-KR" altLang="en-US" b="1" dirty="0" err="1"/>
              <a:t>예측해야함</a:t>
            </a:r>
            <a:br>
              <a:rPr kumimoji="1" lang="en-US" altLang="ko-KR" dirty="0"/>
            </a:br>
            <a:r>
              <a:rPr kumimoji="1" lang="ko-KR" altLang="en-US" dirty="0"/>
              <a:t>일반 </a:t>
            </a:r>
            <a:r>
              <a:rPr kumimoji="1" lang="en-US" altLang="ko-KR" dirty="0"/>
              <a:t>classifier</a:t>
            </a:r>
            <a:r>
              <a:rPr kumimoji="1" lang="ko-KR" altLang="en-US" dirty="0"/>
              <a:t>로는 불가능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Unseen</a:t>
            </a:r>
            <a:r>
              <a:rPr kumimoji="1" lang="ko-KR" altLang="en-US" dirty="0"/>
              <a:t>을 캐치하기 위해 </a:t>
            </a:r>
            <a:r>
              <a:rPr kumimoji="1" lang="en-US" altLang="ko-KR" dirty="0"/>
              <a:t>CLIP </a:t>
            </a:r>
            <a:r>
              <a:rPr kumimoji="1" lang="ko-KR" altLang="en-US" dirty="0"/>
              <a:t>사용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b="1" dirty="0"/>
              <a:t>단순한 </a:t>
            </a:r>
            <a:r>
              <a:rPr kumimoji="1" lang="en-US" altLang="ko-KR" b="1" dirty="0"/>
              <a:t>class phrase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CLIP</a:t>
            </a:r>
            <a:r>
              <a:rPr kumimoji="1" lang="ko-KR" altLang="en-US" b="1" dirty="0"/>
              <a:t>만으로는 </a:t>
            </a:r>
            <a:r>
              <a:rPr kumimoji="1" lang="en-US" altLang="ko-KR" b="1" dirty="0"/>
              <a:t>Fine-Grained </a:t>
            </a:r>
            <a:r>
              <a:rPr kumimoji="1" lang="ko-KR" altLang="en-US" b="1" dirty="0"/>
              <a:t>차이 구분 어려움</a:t>
            </a:r>
            <a:br>
              <a:rPr kumimoji="1" lang="en-US" altLang="ko-KR" dirty="0"/>
            </a:br>
            <a:r>
              <a:rPr kumimoji="1" lang="en-US" altLang="ko-KR" dirty="0"/>
              <a:t>- hold vs grab vs carry</a:t>
            </a:r>
            <a:br>
              <a:rPr kumimoji="1" lang="en-US" altLang="ko-KR" dirty="0"/>
            </a:br>
            <a:r>
              <a:rPr kumimoji="1" lang="en-US" altLang="ko-KR" dirty="0"/>
              <a:t>- throw vs pitch vs hurl</a:t>
            </a:r>
            <a:br>
              <a:rPr kumimoji="1" lang="en-US" altLang="ko-KR" dirty="0"/>
            </a:b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b="1" dirty="0"/>
              <a:t>Region-level</a:t>
            </a:r>
            <a:r>
              <a:rPr kumimoji="1" lang="ko-KR" altLang="en-US" b="1" dirty="0"/>
              <a:t> 이해 필요함</a:t>
            </a:r>
            <a:br>
              <a:rPr kumimoji="1" lang="en-US" altLang="ko-KR" dirty="0"/>
            </a:br>
            <a:r>
              <a:rPr kumimoji="1" lang="ko-KR" altLang="en-US" dirty="0"/>
              <a:t>사람의 상호작용 부분과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 간의 특정 위치에서의 </a:t>
            </a:r>
            <a:r>
              <a:rPr kumimoji="1" lang="en-US" altLang="ko-KR" dirty="0"/>
              <a:t>interaction</a:t>
            </a:r>
            <a:r>
              <a:rPr kumimoji="1" lang="ko-KR" altLang="en-US" dirty="0"/>
              <a:t>을 인식해야 함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647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29EB9BB-0C0B-1F86-07A7-9B35D93E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8E94032-61D4-D9AE-68C5-49C88BE31D5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CFF5040F-116F-8FEA-0AEC-B6EBFA4758D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9912C44-5F98-801A-A5BF-D19D2A96E4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413152-2494-CC3D-9B02-4740A8C7AEC8}"/>
              </a:ext>
            </a:extLst>
          </p:cNvPr>
          <p:cNvSpPr txBox="1"/>
          <p:nvPr/>
        </p:nvSpPr>
        <p:spPr>
          <a:xfrm>
            <a:off x="1645999" y="450430"/>
            <a:ext cx="621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Open Vocabulary Human-Object Interaction(HOI)</a:t>
            </a:r>
            <a:r>
              <a:rPr kumimoji="1" lang="ko-KR" altLang="en-US" sz="1800" dirty="0"/>
              <a:t>의 어려움</a:t>
            </a:r>
            <a:endParaRPr kumimoji="1" lang="en-US" altLang="ko-KR" sz="1800" dirty="0"/>
          </a:p>
        </p:txBody>
      </p:sp>
      <p:pic>
        <p:nvPicPr>
          <p:cNvPr id="3" name="그림 2" descr="스크린샷, 텍스트, 산, 파노라마이(가) 표시된 사진&#10;&#10;자동 생성된 설명">
            <a:extLst>
              <a:ext uri="{FF2B5EF4-FFF2-40B4-BE49-F238E27FC236}">
                <a16:creationId xmlns:a16="http://schemas.microsoft.com/office/drawing/2014/main" id="{A1E17914-3159-4C8F-4184-D3B393785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591" y="1424415"/>
            <a:ext cx="5685112" cy="1977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9EB040-D724-25F8-8134-D4099AF281DA}"/>
              </a:ext>
            </a:extLst>
          </p:cNvPr>
          <p:cNvSpPr txBox="1"/>
          <p:nvPr/>
        </p:nvSpPr>
        <p:spPr>
          <a:xfrm>
            <a:off x="3041779" y="3714110"/>
            <a:ext cx="4738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CLIP</a:t>
            </a:r>
            <a:r>
              <a:rPr kumimoji="1" lang="ko-KR" altLang="en-US" sz="1600" dirty="0"/>
              <a:t>은 </a:t>
            </a:r>
            <a:r>
              <a:rPr kumimoji="1" lang="en-US" altLang="ko-KR" sz="1600" dirty="0"/>
              <a:t>Global Representation -&gt;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Image-level bias</a:t>
            </a:r>
          </a:p>
          <a:p>
            <a:r>
              <a:rPr kumimoji="1" lang="en-US" altLang="ko-KR" sz="1600" dirty="0"/>
              <a:t>CLIP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Text encoder -&gt; Semantic Ambiguity</a:t>
            </a:r>
            <a:endParaRPr kumimoji="1" lang="ko-KR" altLang="en-US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B5ED0C-5415-C6D6-2B9D-92ED1F099FCC}"/>
              </a:ext>
            </a:extLst>
          </p:cNvPr>
          <p:cNvSpPr/>
          <p:nvPr/>
        </p:nvSpPr>
        <p:spPr>
          <a:xfrm>
            <a:off x="6848669" y="1520890"/>
            <a:ext cx="1877034" cy="1800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465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C57653C-2396-8C60-92E4-4FBD35CD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9A8A44B8-F64E-EC89-2C00-1D9F07F471F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8B2D1EFB-40E1-F3F4-549A-B6AA0B746D4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A6E7A5EF-5A1A-336D-6029-6598A1DE4E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018C6D-BAF9-3A2B-9432-B5BA9A47F289}"/>
              </a:ext>
            </a:extLst>
          </p:cNvPr>
          <p:cNvSpPr txBox="1"/>
          <p:nvPr/>
        </p:nvSpPr>
        <p:spPr>
          <a:xfrm>
            <a:off x="1645999" y="450430"/>
            <a:ext cx="621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Open Vocabulary Human-Object Interaction(HOI)</a:t>
            </a:r>
            <a:r>
              <a:rPr kumimoji="1" lang="ko-KR" altLang="en-US" sz="1800" dirty="0"/>
              <a:t>의 어려움</a:t>
            </a:r>
            <a:endParaRPr kumimoji="1" lang="en-US" altLang="ko-KR" sz="1800" dirty="0"/>
          </a:p>
        </p:txBody>
      </p:sp>
      <p:pic>
        <p:nvPicPr>
          <p:cNvPr id="12" name="그림 11" descr="스크린샷, 텍스트, 산, 파노라마이(가) 표시된 사진&#10;&#10;자동 생성된 설명">
            <a:extLst>
              <a:ext uri="{FF2B5EF4-FFF2-40B4-BE49-F238E27FC236}">
                <a16:creationId xmlns:a16="http://schemas.microsoft.com/office/drawing/2014/main" id="{6B070A28-9E78-2AA6-A759-A28D008E1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99" y="1539550"/>
            <a:ext cx="4039643" cy="1405093"/>
          </a:xfrm>
          <a:prstGeom prst="rect">
            <a:avLst/>
          </a:prstGeom>
        </p:spPr>
      </p:pic>
      <p:pic>
        <p:nvPicPr>
          <p:cNvPr id="15" name="그림 14" descr="텍스트, 스크린샷, 산이(가) 표시된 사진&#10;&#10;자동 생성된 설명">
            <a:extLst>
              <a:ext uri="{FF2B5EF4-FFF2-40B4-BE49-F238E27FC236}">
                <a16:creationId xmlns:a16="http://schemas.microsoft.com/office/drawing/2014/main" id="{2FA22116-3500-B515-9C4D-C26A25291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100" y="1055550"/>
            <a:ext cx="3254025" cy="2897632"/>
          </a:xfrm>
          <a:prstGeom prst="rect">
            <a:avLst/>
          </a:prstGeom>
        </p:spPr>
      </p:pic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0DA0D4AF-4F56-3BD3-90E7-549A58E2FCBB}"/>
              </a:ext>
            </a:extLst>
          </p:cNvPr>
          <p:cNvCxnSpPr/>
          <p:nvPr/>
        </p:nvCxnSpPr>
        <p:spPr>
          <a:xfrm flipV="1">
            <a:off x="4404049" y="1212980"/>
            <a:ext cx="1492898" cy="47586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71534A9F-CCA7-295E-43E5-381195A19C5F}"/>
              </a:ext>
            </a:extLst>
          </p:cNvPr>
          <p:cNvCxnSpPr>
            <a:cxnSpLocks/>
          </p:cNvCxnSpPr>
          <p:nvPr/>
        </p:nvCxnSpPr>
        <p:spPr>
          <a:xfrm>
            <a:off x="4404049" y="2659224"/>
            <a:ext cx="1492898" cy="71845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F065185-E2AE-159F-9A56-71CB74CD42F5}"/>
              </a:ext>
            </a:extLst>
          </p:cNvPr>
          <p:cNvSpPr txBox="1"/>
          <p:nvPr/>
        </p:nvSpPr>
        <p:spPr>
          <a:xfrm>
            <a:off x="1979380" y="4087950"/>
            <a:ext cx="6538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-</a:t>
            </a:r>
            <a:r>
              <a:rPr kumimoji="1" lang="ko-KR" altLang="en-US" sz="1600" dirty="0"/>
              <a:t> 보다 풍부한 </a:t>
            </a:r>
            <a:r>
              <a:rPr kumimoji="1" lang="en-US" altLang="ko-KR" sz="1600" dirty="0"/>
              <a:t>Prior</a:t>
            </a:r>
            <a:r>
              <a:rPr kumimoji="1" lang="ko-KR" altLang="en-US" sz="1600" dirty="0"/>
              <a:t>가 포함된 </a:t>
            </a:r>
            <a:r>
              <a:rPr kumimoji="1" lang="en-US" altLang="ko-KR" sz="1600" dirty="0"/>
              <a:t>Text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통해 </a:t>
            </a:r>
            <a:r>
              <a:rPr kumimoji="1" lang="en-US" altLang="ko-KR" sz="1600" dirty="0"/>
              <a:t>Unseen interaction</a:t>
            </a:r>
            <a:r>
              <a:rPr kumimoji="1" lang="ko-KR" altLang="en-US" sz="1600" dirty="0"/>
              <a:t>을 일반화</a:t>
            </a:r>
            <a:endParaRPr kumimoji="1" lang="en-US" altLang="ko-KR" sz="1600" dirty="0"/>
          </a:p>
          <a:p>
            <a:r>
              <a:rPr kumimoji="1" lang="en-US" altLang="ko-KR" sz="1600" dirty="0"/>
              <a:t>-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Region-level interaction</a:t>
            </a:r>
            <a:r>
              <a:rPr kumimoji="1" lang="ko-KR" altLang="en-US" sz="1600" dirty="0"/>
              <a:t>을 정확히 캐치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10605-83EE-7869-11F0-3306FA350C57}"/>
              </a:ext>
            </a:extLst>
          </p:cNvPr>
          <p:cNvSpPr txBox="1"/>
          <p:nvPr/>
        </p:nvSpPr>
        <p:spPr>
          <a:xfrm>
            <a:off x="1896533" y="3780173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필요한 솔루션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047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AE16BE-CDE5-2585-F622-64348C76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BB1F00EE-FD9F-B0CB-B1F5-92BF97E8EF9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096CE4FF-FEB2-B1FE-6B6C-8538649064D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1D92AC4-9C88-21B9-C1FC-E1DEFECEB8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50B0B1-391F-55A6-41EE-BB4E492998D6}"/>
              </a:ext>
            </a:extLst>
          </p:cNvPr>
          <p:cNvSpPr txBox="1"/>
          <p:nvPr/>
        </p:nvSpPr>
        <p:spPr>
          <a:xfrm>
            <a:off x="1645999" y="450430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>
                <a:solidFill>
                  <a:schemeClr val="tx1"/>
                </a:solidFill>
              </a:rPr>
              <a:t>Method: INP-CC</a:t>
            </a:r>
          </a:p>
        </p:txBody>
      </p:sp>
      <p:pic>
        <p:nvPicPr>
          <p:cNvPr id="4" name="그림 3" descr="텍스트, 스크린샷, 도표, 평면도이(가) 표시된 사진&#10;&#10;자동 생성된 설명">
            <a:extLst>
              <a:ext uri="{FF2B5EF4-FFF2-40B4-BE49-F238E27FC236}">
                <a16:creationId xmlns:a16="http://schemas.microsoft.com/office/drawing/2014/main" id="{A553F32A-63A6-90C7-1B45-0E29D099F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99" y="1306812"/>
            <a:ext cx="4891133" cy="275169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27D7FFC-C62D-EBE8-93B7-6606451A66BE}"/>
              </a:ext>
            </a:extLst>
          </p:cNvPr>
          <p:cNvSpPr/>
          <p:nvPr/>
        </p:nvSpPr>
        <p:spPr>
          <a:xfrm>
            <a:off x="2241312" y="1306811"/>
            <a:ext cx="3374562" cy="1088431"/>
          </a:xfrm>
          <a:prstGeom prst="rect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38708-5967-CC61-5233-F7C4CF462F5B}"/>
              </a:ext>
            </a:extLst>
          </p:cNvPr>
          <p:cNvSpPr txBox="1"/>
          <p:nvPr/>
        </p:nvSpPr>
        <p:spPr>
          <a:xfrm>
            <a:off x="6451802" y="979305"/>
            <a:ext cx="2611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INP(Interaction-aware Prompt)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1BD76-0D8B-536C-E871-C3B4DC5F4084}"/>
              </a:ext>
            </a:extLst>
          </p:cNvPr>
          <p:cNvSpPr txBox="1"/>
          <p:nvPr/>
        </p:nvSpPr>
        <p:spPr>
          <a:xfrm>
            <a:off x="6770330" y="1452856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IMG </a:t>
            </a:r>
          </a:p>
          <a:p>
            <a:r>
              <a:rPr kumimoji="1" lang="en-US" altLang="ko-KR" sz="1200" dirty="0"/>
              <a:t>feature</a:t>
            </a:r>
            <a:endParaRPr kumimoji="1"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0CA9C-D1D8-8CFF-0357-8ED7D57FDE01}"/>
              </a:ext>
            </a:extLst>
          </p:cNvPr>
          <p:cNvSpPr txBox="1"/>
          <p:nvPr/>
        </p:nvSpPr>
        <p:spPr>
          <a:xfrm>
            <a:off x="8003027" y="1448478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Prompt</a:t>
            </a:r>
          </a:p>
          <a:p>
            <a:r>
              <a:rPr kumimoji="1" lang="en-US" altLang="ko-KR" sz="1200" dirty="0"/>
              <a:t>Key</a:t>
            </a:r>
            <a:endParaRPr kumimoji="1" lang="ko-KR" altLang="en-US" sz="1200" dirty="0"/>
          </a:p>
        </p:txBody>
      </p:sp>
      <p:sp>
        <p:nvSpPr>
          <p:cNvPr id="10" name="아래쪽 화살표[D] 9">
            <a:extLst>
              <a:ext uri="{FF2B5EF4-FFF2-40B4-BE49-F238E27FC236}">
                <a16:creationId xmlns:a16="http://schemas.microsoft.com/office/drawing/2014/main" id="{2514FA44-F7B2-C086-E390-B0E78B3A1E82}"/>
              </a:ext>
            </a:extLst>
          </p:cNvPr>
          <p:cNvSpPr/>
          <p:nvPr/>
        </p:nvSpPr>
        <p:spPr>
          <a:xfrm rot="5400000">
            <a:off x="7576080" y="1455016"/>
            <a:ext cx="170570" cy="45734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아래쪽 화살표[D] 10">
            <a:extLst>
              <a:ext uri="{FF2B5EF4-FFF2-40B4-BE49-F238E27FC236}">
                <a16:creationId xmlns:a16="http://schemas.microsoft.com/office/drawing/2014/main" id="{77EFFB68-D3CC-E5B4-AA39-E1C806C22F2D}"/>
              </a:ext>
            </a:extLst>
          </p:cNvPr>
          <p:cNvSpPr/>
          <p:nvPr/>
        </p:nvSpPr>
        <p:spPr>
          <a:xfrm rot="16200000">
            <a:off x="7641390" y="1455016"/>
            <a:ext cx="170570" cy="45734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886BCD-646C-2980-7BB2-8F0A914460CE}"/>
              </a:ext>
            </a:extLst>
          </p:cNvPr>
          <p:cNvSpPr txBox="1"/>
          <p:nvPr/>
        </p:nvSpPr>
        <p:spPr>
          <a:xfrm>
            <a:off x="7332514" y="1786025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Cos sim</a:t>
            </a:r>
            <a:endParaRPr kumimoji="1" lang="ko-KR" altLang="en-US" sz="1200" dirty="0"/>
          </a:p>
        </p:txBody>
      </p:sp>
      <p:sp>
        <p:nvSpPr>
          <p:cNvPr id="16" name="아래쪽 화살표[D] 15">
            <a:extLst>
              <a:ext uri="{FF2B5EF4-FFF2-40B4-BE49-F238E27FC236}">
                <a16:creationId xmlns:a16="http://schemas.microsoft.com/office/drawing/2014/main" id="{E495291C-C9A3-B2DD-77CC-C1887742EC2A}"/>
              </a:ext>
            </a:extLst>
          </p:cNvPr>
          <p:cNvSpPr/>
          <p:nvPr/>
        </p:nvSpPr>
        <p:spPr>
          <a:xfrm>
            <a:off x="7607156" y="2051516"/>
            <a:ext cx="190019" cy="34467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A4F986-2214-D513-6BE9-621D2671E89D}"/>
              </a:ext>
            </a:extLst>
          </p:cNvPr>
          <p:cNvSpPr txBox="1"/>
          <p:nvPr/>
        </p:nvSpPr>
        <p:spPr>
          <a:xfrm>
            <a:off x="6977447" y="2390060"/>
            <a:ext cx="1449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dirty="0"/>
              <a:t>Top-k prompt </a:t>
            </a:r>
            <a:r>
              <a:rPr kumimoji="1" lang="ko-KR" altLang="en-US" sz="1200" dirty="0"/>
              <a:t>선택</a:t>
            </a:r>
            <a:endParaRPr kumimoji="1" lang="en-US" altLang="ko-KR" sz="1200" dirty="0"/>
          </a:p>
          <a:p>
            <a:pPr algn="ctr"/>
            <a:r>
              <a:rPr kumimoji="1" lang="en-US" altLang="ko-KR" sz="1200" dirty="0"/>
              <a:t>(w/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fingerprint)</a:t>
            </a:r>
            <a:endParaRPr kumimoji="1" lang="ko-KR" altLang="en-US" sz="1200" dirty="0"/>
          </a:p>
        </p:txBody>
      </p:sp>
      <p:sp>
        <p:nvSpPr>
          <p:cNvPr id="20" name="아래쪽 화살표[D] 19">
            <a:extLst>
              <a:ext uri="{FF2B5EF4-FFF2-40B4-BE49-F238E27FC236}">
                <a16:creationId xmlns:a16="http://schemas.microsoft.com/office/drawing/2014/main" id="{F4F39FD9-D420-CA8F-F08E-9C5BA007C402}"/>
              </a:ext>
            </a:extLst>
          </p:cNvPr>
          <p:cNvSpPr/>
          <p:nvPr/>
        </p:nvSpPr>
        <p:spPr>
          <a:xfrm>
            <a:off x="7607156" y="2855858"/>
            <a:ext cx="190019" cy="34467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C04D35-257D-AFD9-AB68-581FF2DAB44A}"/>
              </a:ext>
            </a:extLst>
          </p:cNvPr>
          <p:cNvSpPr txBox="1"/>
          <p:nvPr/>
        </p:nvSpPr>
        <p:spPr>
          <a:xfrm>
            <a:off x="6588384" y="3200535"/>
            <a:ext cx="22765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200" dirty="0"/>
              <a:t>선택된 </a:t>
            </a:r>
            <a:r>
              <a:rPr kumimoji="1" lang="en-US" altLang="ko-KR" sz="1200" dirty="0"/>
              <a:t>prompt</a:t>
            </a:r>
            <a:r>
              <a:rPr kumimoji="1" lang="ko-KR" altLang="en-US" sz="1200" dirty="0"/>
              <a:t>들을 </a:t>
            </a:r>
            <a:endParaRPr kumimoji="1" lang="en-US" altLang="ko-KR" sz="1200" dirty="0"/>
          </a:p>
          <a:p>
            <a:pPr algn="ctr"/>
            <a:r>
              <a:rPr kumimoji="1" lang="en-US" altLang="ko-KR" sz="1200" dirty="0"/>
              <a:t>weighted sum</a:t>
            </a:r>
          </a:p>
          <a:p>
            <a:pPr algn="ctr"/>
            <a:endParaRPr kumimoji="1" lang="en-US" altLang="ko-KR" sz="1200" dirty="0"/>
          </a:p>
          <a:p>
            <a:pPr algn="ctr"/>
            <a:r>
              <a:rPr kumimoji="1" lang="en-US" altLang="ko-KR" sz="1200" dirty="0"/>
              <a:t>Interaction-Aware Prompt </a:t>
            </a:r>
            <a:r>
              <a:rPr kumimoji="1" lang="ko-KR" altLang="en-US" sz="1200" dirty="0"/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270815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440E92-975A-B254-53C2-B2C52791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B242E105-A4B5-39E2-9168-701619896F2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616C966C-919A-81BC-8312-140BAD273E9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F066B6F8-3EB6-A473-B4CA-CB4AC6B9C49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E65C2C-F986-6A8B-2180-ABFD580AD917}"/>
              </a:ext>
            </a:extLst>
          </p:cNvPr>
          <p:cNvSpPr txBox="1"/>
          <p:nvPr/>
        </p:nvSpPr>
        <p:spPr>
          <a:xfrm>
            <a:off x="1645999" y="450430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>
                <a:solidFill>
                  <a:schemeClr val="tx1"/>
                </a:solidFill>
              </a:rPr>
              <a:t>Method: INP-CC</a:t>
            </a:r>
          </a:p>
        </p:txBody>
      </p:sp>
      <p:pic>
        <p:nvPicPr>
          <p:cNvPr id="4" name="그림 3" descr="텍스트, 스크린샷, 도표, 평면도이(가) 표시된 사진&#10;&#10;자동 생성된 설명">
            <a:extLst>
              <a:ext uri="{FF2B5EF4-FFF2-40B4-BE49-F238E27FC236}">
                <a16:creationId xmlns:a16="http://schemas.microsoft.com/office/drawing/2014/main" id="{1AB38653-AE48-93A8-3DA3-CE816AC92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99" y="1306812"/>
            <a:ext cx="4891133" cy="275169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386C625-0000-2BA7-D6AE-C59CAD3777B7}"/>
              </a:ext>
            </a:extLst>
          </p:cNvPr>
          <p:cNvSpPr/>
          <p:nvPr/>
        </p:nvSpPr>
        <p:spPr>
          <a:xfrm>
            <a:off x="2333566" y="3071818"/>
            <a:ext cx="3290400" cy="901372"/>
          </a:xfrm>
          <a:prstGeom prst="rect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1D21C-1077-5DB0-EAA9-B65B78B1C40A}"/>
              </a:ext>
            </a:extLst>
          </p:cNvPr>
          <p:cNvSpPr txBox="1"/>
          <p:nvPr/>
        </p:nvSpPr>
        <p:spPr>
          <a:xfrm>
            <a:off x="6540814" y="1044041"/>
            <a:ext cx="2135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CC(Concept Calibration)</a:t>
            </a:r>
            <a:endParaRPr kumimoji="1" lang="ko-KR" altLang="en-US" dirty="0"/>
          </a:p>
        </p:txBody>
      </p:sp>
      <p:pic>
        <p:nvPicPr>
          <p:cNvPr id="7" name="그림 6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A7AFED82-3DF4-1B1C-3661-52282FD10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332" y="1351818"/>
            <a:ext cx="2174484" cy="304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54EE0C4-27AA-0DB6-9F35-CC810846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E5FD730E-3E1D-FC0F-6363-B201CC6D0E2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54B2F883-7729-8653-C5B5-99F7063C8E1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2385E908-C465-1CF0-0F5D-27B55967F6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9D2A79-D28F-9B39-D70E-A5DC8061987C}"/>
              </a:ext>
            </a:extLst>
          </p:cNvPr>
          <p:cNvSpPr txBox="1"/>
          <p:nvPr/>
        </p:nvSpPr>
        <p:spPr>
          <a:xfrm>
            <a:off x="1645999" y="450430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>
                <a:solidFill>
                  <a:schemeClr val="tx1"/>
                </a:solidFill>
              </a:rPr>
              <a:t>Method: INP-CC</a:t>
            </a:r>
          </a:p>
        </p:txBody>
      </p:sp>
      <p:pic>
        <p:nvPicPr>
          <p:cNvPr id="4" name="그림 3" descr="텍스트, 스크린샷, 도표, 평면도이(가) 표시된 사진&#10;&#10;자동 생성된 설명">
            <a:extLst>
              <a:ext uri="{FF2B5EF4-FFF2-40B4-BE49-F238E27FC236}">
                <a16:creationId xmlns:a16="http://schemas.microsoft.com/office/drawing/2014/main" id="{187467A4-D674-128D-4F84-45A62A30D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99" y="1306812"/>
            <a:ext cx="4891133" cy="275169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E5FF9A1-F131-8404-0DE6-FB926BBF3EBE}"/>
              </a:ext>
            </a:extLst>
          </p:cNvPr>
          <p:cNvSpPr/>
          <p:nvPr/>
        </p:nvSpPr>
        <p:spPr>
          <a:xfrm>
            <a:off x="2333566" y="3071818"/>
            <a:ext cx="3290400" cy="901372"/>
          </a:xfrm>
          <a:prstGeom prst="rect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4" name="그림 13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842E1DE3-CF65-3EA3-8CEB-71D122621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752" y="2916983"/>
            <a:ext cx="2388383" cy="127298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DFEDD69-B84D-CE62-9C8A-F5A3FD207659}"/>
              </a:ext>
            </a:extLst>
          </p:cNvPr>
          <p:cNvSpPr/>
          <p:nvPr/>
        </p:nvSpPr>
        <p:spPr>
          <a:xfrm>
            <a:off x="2241311" y="1306811"/>
            <a:ext cx="3382655" cy="1088431"/>
          </a:xfrm>
          <a:prstGeom prst="rect">
            <a:avLst/>
          </a:prstGeom>
          <a:solidFill>
            <a:schemeClr val="accent1">
              <a:alpha val="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9" name="그림 8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5C8F4D4B-7D13-2DCE-FD0B-5DC34AAC5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839" y="1108096"/>
            <a:ext cx="2243008" cy="120801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11" name="구부러진 연결선[U] 10">
            <a:extLst>
              <a:ext uri="{FF2B5EF4-FFF2-40B4-BE49-F238E27FC236}">
                <a16:creationId xmlns:a16="http://schemas.microsoft.com/office/drawing/2014/main" id="{75CC153F-8814-E371-AECC-F8854755C56C}"/>
              </a:ext>
            </a:extLst>
          </p:cNvPr>
          <p:cNvCxnSpPr>
            <a:cxnSpLocks/>
            <a:stCxn id="3" idx="0"/>
            <a:endCxn id="9" idx="0"/>
          </p:cNvCxnSpPr>
          <p:nvPr/>
        </p:nvCxnSpPr>
        <p:spPr>
          <a:xfrm rot="5400000" flipH="1" flipV="1">
            <a:off x="5665634" y="-624898"/>
            <a:ext cx="198715" cy="3664704"/>
          </a:xfrm>
          <a:prstGeom prst="curvedConnector3">
            <a:avLst>
              <a:gd name="adj1" fmla="val 215039"/>
            </a:avLst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구부러진 연결선[U] 12">
            <a:extLst>
              <a:ext uri="{FF2B5EF4-FFF2-40B4-BE49-F238E27FC236}">
                <a16:creationId xmlns:a16="http://schemas.microsoft.com/office/drawing/2014/main" id="{7A1634FE-CD45-E206-F615-86C4705E9F46}"/>
              </a:ext>
            </a:extLst>
          </p:cNvPr>
          <p:cNvCxnSpPr>
            <a:cxnSpLocks/>
            <a:stCxn id="5" idx="2"/>
            <a:endCxn id="14" idx="2"/>
          </p:cNvCxnSpPr>
          <p:nvPr/>
        </p:nvCxnSpPr>
        <p:spPr>
          <a:xfrm rot="16200000" flipH="1">
            <a:off x="5685969" y="2265987"/>
            <a:ext cx="216773" cy="3631178"/>
          </a:xfrm>
          <a:prstGeom prst="curvedConnector3">
            <a:avLst>
              <a:gd name="adj1" fmla="val 205456"/>
            </a:avLst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38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71703E8-6417-F8C4-E99E-5D16610E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25E2A660-5BB9-6A06-04A4-71C360B04DA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F2BA2B6A-2C02-9075-AFD9-EE4B1E6676B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723B3023-9F32-6CDB-3E45-3FF060BE8C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344CD4-2C23-26DB-B92E-78106333AE29}"/>
              </a:ext>
            </a:extLst>
          </p:cNvPr>
          <p:cNvSpPr txBox="1"/>
          <p:nvPr/>
        </p:nvSpPr>
        <p:spPr>
          <a:xfrm>
            <a:off x="1645999" y="45043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>
                <a:solidFill>
                  <a:schemeClr val="tx1"/>
                </a:solidFill>
              </a:rPr>
              <a:t>Performance: INP-CC</a:t>
            </a:r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E83EA9A-9BF1-A2AD-BA39-845B8A034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777" y="1408014"/>
            <a:ext cx="3292819" cy="2577931"/>
          </a:xfrm>
          <a:prstGeom prst="rect">
            <a:avLst/>
          </a:prstGeom>
        </p:spPr>
      </p:pic>
      <p:pic>
        <p:nvPicPr>
          <p:cNvPr id="12" name="그림 1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43AD79E-7CC9-1324-088C-691CB97AC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772" y="1868468"/>
            <a:ext cx="3228718" cy="179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9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D8450FA-2042-788F-3DF0-C98112C7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5152597C-7856-AE77-10E3-2D009E487BE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88D90ABD-D3AD-B391-9669-8635F6819C8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3977F1BB-CC14-3324-D5CA-F5E693240E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270815-CE59-1B67-56BB-18C3DE80C6C6}"/>
              </a:ext>
            </a:extLst>
          </p:cNvPr>
          <p:cNvSpPr txBox="1"/>
          <p:nvPr/>
        </p:nvSpPr>
        <p:spPr>
          <a:xfrm>
            <a:off x="1645999" y="45043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>
                <a:solidFill>
                  <a:schemeClr val="tx1"/>
                </a:solidFill>
              </a:rPr>
              <a:t>Performance: INP-CC</a:t>
            </a:r>
          </a:p>
        </p:txBody>
      </p:sp>
      <p:pic>
        <p:nvPicPr>
          <p:cNvPr id="4" name="그림 3" descr="텍스트, 폰트, 스크린샷, 번호이(가) 표시된 사진&#10;&#10;자동 생성된 설명">
            <a:extLst>
              <a:ext uri="{FF2B5EF4-FFF2-40B4-BE49-F238E27FC236}">
                <a16:creationId xmlns:a16="http://schemas.microsoft.com/office/drawing/2014/main" id="{9DBECCC0-C53E-7EEB-E8D1-6AC7286D8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982" y="1082593"/>
            <a:ext cx="3563214" cy="1838710"/>
          </a:xfrm>
          <a:prstGeom prst="rect">
            <a:avLst/>
          </a:prstGeom>
        </p:spPr>
      </p:pic>
      <p:pic>
        <p:nvPicPr>
          <p:cNvPr id="6" name="그림 5" descr="텍스트, 폰트, 스크린샷, 번호이(가) 표시된 사진&#10;&#10;자동 생성된 설명">
            <a:extLst>
              <a:ext uri="{FF2B5EF4-FFF2-40B4-BE49-F238E27FC236}">
                <a16:creationId xmlns:a16="http://schemas.microsoft.com/office/drawing/2014/main" id="{5CFB276F-244B-6080-8FA9-F038C409A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738" y="3141552"/>
            <a:ext cx="3509991" cy="1551518"/>
          </a:xfrm>
          <a:prstGeom prst="rect">
            <a:avLst/>
          </a:prstGeom>
        </p:spPr>
      </p:pic>
      <p:pic>
        <p:nvPicPr>
          <p:cNvPr id="10" name="그림 9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45F61BD1-3266-FC40-3886-E8551B18E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956" y="862344"/>
            <a:ext cx="3941221" cy="192134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EAE9C7-8631-7EE1-98EB-02867AC30D17}"/>
              </a:ext>
            </a:extLst>
          </p:cNvPr>
          <p:cNvSpPr/>
          <p:nvPr/>
        </p:nvSpPr>
        <p:spPr>
          <a:xfrm>
            <a:off x="5045730" y="922713"/>
            <a:ext cx="1748832" cy="157941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0D48C1-9C35-EBB8-2EC3-116A63955375}"/>
              </a:ext>
            </a:extLst>
          </p:cNvPr>
          <p:cNvSpPr/>
          <p:nvPr/>
        </p:nvSpPr>
        <p:spPr>
          <a:xfrm>
            <a:off x="6794562" y="922713"/>
            <a:ext cx="1748832" cy="157941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8430BB-0E84-ADFD-6534-B12F138366BA}"/>
              </a:ext>
            </a:extLst>
          </p:cNvPr>
          <p:cNvSpPr txBox="1"/>
          <p:nvPr/>
        </p:nvSpPr>
        <p:spPr>
          <a:xfrm>
            <a:off x="5107196" y="2922524"/>
            <a:ext cx="3809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dirty="0"/>
              <a:t>a) semantic similarity ↑ → </a:t>
            </a:r>
            <a:r>
              <a:rPr lang="ko-KR" altLang="en-US" dirty="0"/>
              <a:t>같은 </a:t>
            </a:r>
            <a:r>
              <a:rPr lang="en" altLang="ko-KR" dirty="0"/>
              <a:t>prompt </a:t>
            </a:r>
            <a:r>
              <a:rPr lang="ko-KR" altLang="en-US" dirty="0"/>
              <a:t>선택 ↑</a:t>
            </a:r>
            <a:endParaRPr lang="en-US" altLang="ko-KR" dirty="0"/>
          </a:p>
          <a:p>
            <a:r>
              <a:rPr lang="ko-KR" altLang="en-US" b="1" dirty="0"/>
              <a:t>비슷한 </a:t>
            </a:r>
            <a:r>
              <a:rPr lang="en" altLang="ko-KR" b="1" dirty="0"/>
              <a:t>interaction</a:t>
            </a:r>
            <a:r>
              <a:rPr lang="ko-KR" altLang="en-US" b="1" dirty="0"/>
              <a:t>은 같은 </a:t>
            </a:r>
            <a:r>
              <a:rPr lang="en" altLang="ko-KR" b="1" dirty="0"/>
              <a:t>prompt</a:t>
            </a:r>
            <a:r>
              <a:rPr lang="ko-KR" altLang="en-US" b="1" dirty="0" err="1"/>
              <a:t>를</a:t>
            </a:r>
            <a:r>
              <a:rPr lang="ko-KR" altLang="en-US" b="1" dirty="0"/>
              <a:t> 공유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15E576-F3CC-5D00-D72E-2721BFBC6FBF}"/>
              </a:ext>
            </a:extLst>
          </p:cNvPr>
          <p:cNvSpPr txBox="1"/>
          <p:nvPr/>
        </p:nvSpPr>
        <p:spPr>
          <a:xfrm>
            <a:off x="5129638" y="3595376"/>
            <a:ext cx="367280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dirty="0"/>
              <a:t>b) prompt selection entropy</a:t>
            </a:r>
          </a:p>
          <a:p>
            <a:r>
              <a:rPr lang="ko-KR" altLang="en-US" dirty="0"/>
              <a:t>높음 → 여러 </a:t>
            </a:r>
            <a:r>
              <a:rPr lang="en" altLang="ko-KR" dirty="0"/>
              <a:t>prompt </a:t>
            </a:r>
            <a:r>
              <a:rPr lang="ko-KR" altLang="en-US" dirty="0"/>
              <a:t>섞어서 사용</a:t>
            </a:r>
            <a:endParaRPr lang="en-US" altLang="ko-KR" dirty="0"/>
          </a:p>
          <a:p>
            <a:r>
              <a:rPr lang="ko-KR" altLang="en-US" dirty="0"/>
              <a:t>낮음 → 특정 </a:t>
            </a:r>
            <a:r>
              <a:rPr lang="en" altLang="ko-KR" dirty="0"/>
              <a:t>prompt</a:t>
            </a:r>
            <a:r>
              <a:rPr lang="ko-KR" altLang="en-US" dirty="0" err="1"/>
              <a:t>에</a:t>
            </a:r>
            <a:r>
              <a:rPr lang="ko-KR" altLang="en-US" dirty="0"/>
              <a:t> 집중</a:t>
            </a:r>
            <a:endParaRPr lang="en-US" altLang="ko-KR" dirty="0"/>
          </a:p>
          <a:p>
            <a:pPr marL="285750" indent="-285750">
              <a:buFont typeface="Symbol" pitchFamily="2" charset="2"/>
              <a:buChar char="Þ"/>
            </a:pPr>
            <a:r>
              <a:rPr lang="en-US" altLang="ko-KR" dirty="0"/>
              <a:t>Entropy </a:t>
            </a:r>
            <a:r>
              <a:rPr lang="ko-KR" altLang="en-US" dirty="0"/>
              <a:t>낮을수록 성능 ↑</a:t>
            </a:r>
            <a:endParaRPr lang="en-US" altLang="ko-KR" dirty="0"/>
          </a:p>
          <a:p>
            <a:pPr marL="285750" indent="-285750">
              <a:buFont typeface="Symbol" pitchFamily="2" charset="2"/>
              <a:buChar char="Þ"/>
            </a:pPr>
            <a:r>
              <a:rPr lang="ko-KR" altLang="en-US" b="1" dirty="0"/>
              <a:t>일관된 </a:t>
            </a:r>
            <a:r>
              <a:rPr lang="en-US" altLang="ko-KR" b="1" dirty="0"/>
              <a:t>prompt </a:t>
            </a:r>
            <a:r>
              <a:rPr lang="ko-KR" altLang="en-US" b="1" dirty="0"/>
              <a:t>선택이 도움이 됨을 확인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937811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6992568-50B7-AA6D-59BA-A56AC118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A3F77BD-ACD8-6943-C1B4-F2EDF5B935E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52F9512C-F3AA-3DC5-8A77-9F342A16E9C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ED36084D-B0FB-6828-9207-8267DF4E53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849EE-1FB4-5F1F-7A7C-9C2DBD5E4BB0}"/>
              </a:ext>
            </a:extLst>
          </p:cNvPr>
          <p:cNvSpPr txBox="1"/>
          <p:nvPr/>
        </p:nvSpPr>
        <p:spPr>
          <a:xfrm>
            <a:off x="4292301" y="237169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1397976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421</Words>
  <Application>Microsoft Macintosh PowerPoint</Application>
  <PresentationFormat>화면 슬라이드 쇼(16:9)</PresentationFormat>
  <Paragraphs>79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Symbol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신승현</cp:lastModifiedBy>
  <cp:revision>5</cp:revision>
  <dcterms:modified xsi:type="dcterms:W3CDTF">2026-03-17T07:24:37Z</dcterms:modified>
</cp:coreProperties>
</file>